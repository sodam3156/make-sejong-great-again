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5"/>
  </p:notesMasterIdLst>
  <p:handoutMasterIdLst>
    <p:handoutMasterId r:id="rId6"/>
  </p:handoutMasterIdLst>
  <p:sldIdLst>
    <p:sldId id="257" r:id="rId2"/>
    <p:sldId id="279" r:id="rId3"/>
    <p:sldId id="280" r:id="rId4"/>
  </p:sldIdLst>
  <p:sldSz cx="6858000" cy="9906000" type="A4"/>
  <p:notesSz cx="6735763" cy="98663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Calibri" panose="020F050202020403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Calibri" panose="020F050202020403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Calibri" panose="020F050202020403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Calibri" panose="020F050202020403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8FF"/>
    <a:srgbClr val="BF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7315" autoAdjust="0"/>
    <p:restoredTop sz="94700" autoAdjust="0"/>
  </p:normalViewPr>
  <p:slideViewPr>
    <p:cSldViewPr>
      <p:cViewPr varScale="1">
        <p:scale>
          <a:sx n="75" d="100"/>
          <a:sy n="75" d="100"/>
        </p:scale>
        <p:origin x="3066" y="78"/>
      </p:cViewPr>
      <p:guideLst>
        <p:guide orient="horz" pos="312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-4080" y="-96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B58BB6C-3307-49B0-9D34-4644C948A592}" type="datetimeFigureOut">
              <a:rPr lang="ko-KR" altLang="en-US"/>
              <a:pPr>
                <a:defRPr/>
              </a:pPr>
              <a:t>2025-10-27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11736A-175E-4A70-8E77-F83207B259B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E0A07D54-19AE-4DD7-BAB6-3EFD847A96A1}" type="datetimeFigureOut">
              <a:rPr lang="ko-KR" altLang="en-US"/>
              <a:pPr>
                <a:defRPr/>
              </a:pPr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87563" y="739775"/>
            <a:ext cx="25606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6AEAD54-30EC-40F1-B13F-93FA3181C30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614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fld id="{D0480E46-A115-40A2-ACD2-1168EDA69F11}" type="slidenum">
              <a:rPr lang="ko-KR" altLang="en-US">
                <a:latin typeface="맑은 고딕" panose="020B0503020000020004" pitchFamily="50" charset="-127"/>
              </a:rPr>
              <a:pPr/>
              <a:t>2</a:t>
            </a:fld>
            <a:endParaRPr lang="ko-KR" altLang="en-US">
              <a:latin typeface="맑은 고딕" panose="020B0503020000020004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717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fld id="{6CFD3E89-EF6D-45A0-91E4-13B634162679}" type="slidenum">
              <a:rPr lang="ko-KR" altLang="en-US">
                <a:latin typeface="맑은 고딕" panose="020B0503020000020004" pitchFamily="50" charset="-127"/>
              </a:rPr>
              <a:pPr/>
              <a:t>3</a:t>
            </a:fld>
            <a:endParaRPr lang="ko-KR" altLang="en-US">
              <a:latin typeface="맑은 고딕" panose="020B0503020000020004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498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040313-올포랜드 도로명주소\고객사 로고\kli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163" y="9620250"/>
            <a:ext cx="14874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14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10"/>
          <a:stretch>
            <a:fillRect/>
          </a:stretch>
        </p:blipFill>
        <p:spPr bwMode="auto">
          <a:xfrm>
            <a:off x="611188" y="222250"/>
            <a:ext cx="6572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9604375"/>
            <a:ext cx="9144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6277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31825" rtl="0" fontAlgn="base" latinLnBrk="1">
        <a:lnSpc>
          <a:spcPct val="90000"/>
        </a:lnSpc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31825" rtl="0" fontAlgn="base" latinLnBrk="1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2pPr>
      <a:lvl3pPr algn="l" defTabSz="631825" rtl="0" fontAlgn="base" latinLnBrk="1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3pPr>
      <a:lvl4pPr algn="l" defTabSz="631825" rtl="0" fontAlgn="base" latinLnBrk="1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4pPr>
      <a:lvl5pPr algn="l" defTabSz="631825" rtl="0" fontAlgn="base" latinLnBrk="1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5pPr>
      <a:lvl6pPr marL="457200" algn="l" defTabSz="631825" rtl="0" fontAlgn="base" latinLnBrk="1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6pPr>
      <a:lvl7pPr marL="914400" algn="l" defTabSz="631825" rtl="0" fontAlgn="base" latinLnBrk="1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7pPr>
      <a:lvl8pPr marL="1371600" algn="l" defTabSz="631825" rtl="0" fontAlgn="base" latinLnBrk="1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8pPr>
      <a:lvl9pPr marL="1828800" algn="l" defTabSz="631825" rtl="0" fontAlgn="base" latinLnBrk="1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9pPr>
    </p:titleStyle>
    <p:bodyStyle>
      <a:lvl1pPr marL="157163" indent="-157163" algn="l" defTabSz="631825" rtl="0" fontAlgn="base" latinLnBrk="1">
        <a:lnSpc>
          <a:spcPct val="90000"/>
        </a:lnSpc>
        <a:spcBef>
          <a:spcPts val="688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4663" indent="-157163" algn="l" defTabSz="631825" rtl="0" fontAlgn="base" latinLnBrk="1">
        <a:lnSpc>
          <a:spcPct val="90000"/>
        </a:lnSpc>
        <a:spcBef>
          <a:spcPts val="35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90575" indent="-157163" algn="l" defTabSz="631825" rtl="0" fontAlgn="base" latinLnBrk="1">
        <a:lnSpc>
          <a:spcPct val="90000"/>
        </a:lnSpc>
        <a:spcBef>
          <a:spcPts val="350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106488" indent="-157163" algn="l" defTabSz="631825" rtl="0" fontAlgn="base" latinLnBrk="1">
        <a:lnSpc>
          <a:spcPct val="90000"/>
        </a:lnSpc>
        <a:spcBef>
          <a:spcPts val="35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423988" indent="-157163" algn="l" defTabSz="631825" rtl="0" fontAlgn="base" latinLnBrk="1">
        <a:lnSpc>
          <a:spcPct val="90000"/>
        </a:lnSpc>
        <a:spcBef>
          <a:spcPts val="35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740920" indent="-158265" algn="l" defTabSz="633062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1" indent="-158265" algn="l" defTabSz="633062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7pPr>
      <a:lvl8pPr marL="2373982" indent="-158265" algn="l" defTabSz="633062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8pPr>
      <a:lvl9pPr marL="2690513" indent="-158265" algn="l" defTabSz="633062" rtl="0" eaLnBrk="1" latinLnBrk="1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062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1pPr>
      <a:lvl2pPr marL="316531" algn="l" defTabSz="633062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2pPr>
      <a:lvl3pPr marL="633062" algn="l" defTabSz="633062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3pPr>
      <a:lvl4pPr marL="949593" algn="l" defTabSz="633062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4pPr>
      <a:lvl5pPr marL="1266124" algn="l" defTabSz="633062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5pPr>
      <a:lvl6pPr marL="1582655" algn="l" defTabSz="633062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6pPr>
      <a:lvl7pPr marL="1899186" algn="l" defTabSz="633062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7pPr>
      <a:lvl8pPr marL="2215717" algn="l" defTabSz="633062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8pPr>
      <a:lvl9pPr marL="2532248" algn="l" defTabSz="633062" rtl="0" eaLnBrk="1" latinLnBrk="1" hangingPunct="1">
        <a:defRPr sz="12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64" r="43974"/>
          <a:stretch/>
        </p:blipFill>
        <p:spPr bwMode="auto">
          <a:xfrm>
            <a:off x="997186" y="3698112"/>
            <a:ext cx="4790603" cy="3793426"/>
          </a:xfrm>
          <a:prstGeom prst="rect">
            <a:avLst/>
          </a:prstGeom>
          <a:noFill/>
          <a:ln>
            <a:noFill/>
          </a:ln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51" name="그룹 24"/>
          <p:cNvGrpSpPr>
            <a:grpSpLocks/>
          </p:cNvGrpSpPr>
          <p:nvPr/>
        </p:nvGrpSpPr>
        <p:grpSpPr bwMode="auto">
          <a:xfrm>
            <a:off x="392113" y="1458913"/>
            <a:ext cx="6054725" cy="1914525"/>
            <a:chOff x="354013" y="1535430"/>
            <a:chExt cx="6054044" cy="2125309"/>
          </a:xfrm>
        </p:grpSpPr>
        <p:sp>
          <p:nvSpPr>
            <p:cNvPr id="2" name="직사각형 1"/>
            <p:cNvSpPr/>
            <p:nvPr/>
          </p:nvSpPr>
          <p:spPr>
            <a:xfrm>
              <a:off x="634968" y="1727518"/>
              <a:ext cx="5504831" cy="1755230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51435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13">
                <a:solidFill>
                  <a:prstClr val="white"/>
                </a:solidFill>
              </a:endParaRPr>
            </a:p>
          </p:txBody>
        </p:sp>
        <p:sp>
          <p:nvSpPr>
            <p:cNvPr id="2057" name="TextBox 6"/>
            <p:cNvSpPr txBox="1">
              <a:spLocks noChangeArrowheads="1"/>
            </p:cNvSpPr>
            <p:nvPr/>
          </p:nvSpPr>
          <p:spPr bwMode="auto">
            <a:xfrm>
              <a:off x="354013" y="2171107"/>
              <a:ext cx="6054044" cy="1230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2182" tIns="61091" rIns="122182" bIns="61091">
              <a:spAutoFit/>
            </a:bodyPr>
            <a:lstStyle>
              <a:lvl1pPr defTabSz="5143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 defTabSz="5143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 defTabSz="5143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 defTabSz="5143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 defTabSz="5143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defTabSz="5143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defTabSz="5143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defTabSz="5143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defTabSz="51435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pPr algn="ctr"/>
              <a:r>
                <a:rPr kumimoji="0" lang="ko-KR" altLang="en-US" sz="3200">
                  <a:solidFill>
                    <a:srgbClr val="40404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도로명주소 전자지도</a:t>
              </a:r>
              <a:endParaRPr kumimoji="0" lang="en-US" altLang="ko-KR" sz="3200">
                <a:solidFill>
                  <a:srgbClr val="4040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 algn="ctr"/>
              <a:r>
                <a:rPr kumimoji="0" lang="ko-KR" altLang="en-US" sz="3200">
                  <a:solidFill>
                    <a:srgbClr val="404040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샘플 이미지</a:t>
              </a:r>
              <a:endParaRPr kumimoji="0" lang="en-US" altLang="ko-KR" sz="3200">
                <a:solidFill>
                  <a:srgbClr val="40404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grpSp>
          <p:nvGrpSpPr>
            <p:cNvPr id="2058" name="그룹 10"/>
            <p:cNvGrpSpPr>
              <a:grpSpLocks/>
            </p:cNvGrpSpPr>
            <p:nvPr/>
          </p:nvGrpSpPr>
          <p:grpSpPr bwMode="auto">
            <a:xfrm>
              <a:off x="428625" y="1535430"/>
              <a:ext cx="756346" cy="719828"/>
              <a:chOff x="428625" y="1535430"/>
              <a:chExt cx="756346" cy="719828"/>
            </a:xfrm>
          </p:grpSpPr>
          <p:cxnSp>
            <p:nvCxnSpPr>
              <p:cNvPr id="4" name="직선 연결선 3"/>
              <p:cNvCxnSpPr/>
              <p:nvPr/>
            </p:nvCxnSpPr>
            <p:spPr>
              <a:xfrm>
                <a:off x="634969" y="2176900"/>
                <a:ext cx="466673" cy="0"/>
              </a:xfrm>
              <a:prstGeom prst="line">
                <a:avLst/>
              </a:prstGeom>
              <a:ln w="28575">
                <a:solidFill>
                  <a:srgbClr val="41719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/>
              <p:cNvCxnSpPr/>
              <p:nvPr/>
            </p:nvCxnSpPr>
            <p:spPr>
              <a:xfrm rot="16200000">
                <a:off x="867258" y="1954852"/>
                <a:ext cx="468766" cy="0"/>
              </a:xfrm>
              <a:prstGeom prst="line">
                <a:avLst/>
              </a:prstGeom>
              <a:ln w="28575">
                <a:solidFill>
                  <a:srgbClr val="41719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직사각형 5"/>
              <p:cNvSpPr/>
              <p:nvPr/>
            </p:nvSpPr>
            <p:spPr>
              <a:xfrm>
                <a:off x="428617" y="1535430"/>
                <a:ext cx="663500" cy="6273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51435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13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직사각형 8"/>
              <p:cNvSpPr/>
              <p:nvPr/>
            </p:nvSpPr>
            <p:spPr>
              <a:xfrm rot="16200000">
                <a:off x="844279" y="1914536"/>
                <a:ext cx="340120" cy="339687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51435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13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직사각형 9"/>
              <p:cNvSpPr/>
              <p:nvPr/>
            </p:nvSpPr>
            <p:spPr>
              <a:xfrm rot="16200000">
                <a:off x="647338" y="1726085"/>
                <a:ext cx="278440" cy="277782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51435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13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059" name="그룹 18"/>
            <p:cNvGrpSpPr>
              <a:grpSpLocks/>
            </p:cNvGrpSpPr>
            <p:nvPr/>
          </p:nvGrpSpPr>
          <p:grpSpPr bwMode="auto">
            <a:xfrm rot="10800000">
              <a:off x="5591160" y="2940911"/>
              <a:ext cx="756346" cy="719828"/>
              <a:chOff x="428625" y="1535430"/>
              <a:chExt cx="756346" cy="719828"/>
            </a:xfrm>
          </p:grpSpPr>
          <p:cxnSp>
            <p:nvCxnSpPr>
              <p:cNvPr id="20" name="직선 연결선 19"/>
              <p:cNvCxnSpPr/>
              <p:nvPr/>
            </p:nvCxnSpPr>
            <p:spPr>
              <a:xfrm>
                <a:off x="636332" y="2176900"/>
                <a:ext cx="468259" cy="0"/>
              </a:xfrm>
              <a:prstGeom prst="line">
                <a:avLst/>
              </a:prstGeom>
              <a:ln w="28575">
                <a:solidFill>
                  <a:srgbClr val="41719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/>
              <p:cNvCxnSpPr/>
              <p:nvPr/>
            </p:nvCxnSpPr>
            <p:spPr>
              <a:xfrm rot="16200000">
                <a:off x="868622" y="1954852"/>
                <a:ext cx="468766" cy="0"/>
              </a:xfrm>
              <a:prstGeom prst="line">
                <a:avLst/>
              </a:prstGeom>
              <a:ln w="28575">
                <a:solidFill>
                  <a:srgbClr val="41719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직사각형 21"/>
              <p:cNvSpPr/>
              <p:nvPr/>
            </p:nvSpPr>
            <p:spPr>
              <a:xfrm>
                <a:off x="429980" y="1535430"/>
                <a:ext cx="665087" cy="6273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51435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13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>
              <a:xfrm rot="16200000">
                <a:off x="846435" y="1915506"/>
                <a:ext cx="340120" cy="341274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51435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13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 rot="16200000">
                <a:off x="647907" y="1725291"/>
                <a:ext cx="278440" cy="279369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514350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 sz="1013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51435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13">
              <a:solidFill>
                <a:prstClr val="black"/>
              </a:solidFill>
              <a:latin typeface="+mn-lt"/>
              <a:ea typeface="+mn-ea"/>
            </a:endParaRPr>
          </a:p>
        </p:txBody>
      </p:sp>
      <p:pic>
        <p:nvPicPr>
          <p:cNvPr id="2053" name="Picture 2" descr="C:\040313-올포랜드 도로명주소\고객사 로고\kli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575" y="8890000"/>
            <a:ext cx="27368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4486275" y="228600"/>
            <a:ext cx="1541463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51435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13">
              <a:solidFill>
                <a:prstClr val="black"/>
              </a:solidFill>
              <a:latin typeface="+mn-lt"/>
              <a:ea typeface="+mn-ea"/>
            </a:endParaRPr>
          </a:p>
        </p:txBody>
      </p:sp>
      <p:pic>
        <p:nvPicPr>
          <p:cNvPr id="205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950" y="8412163"/>
            <a:ext cx="1839913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571500" y="7299325"/>
            <a:ext cx="6026150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kumimoji="0" lang="ko-KR" altLang="en-US" sz="1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전자지도</a:t>
            </a:r>
            <a:endParaRPr kumimoji="0" lang="en-US" altLang="ko-KR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400" b="1" kern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12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kumimoji="0" lang="ko-KR" altLang="en-US" sz="1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법정구역읍면동</a:t>
            </a:r>
            <a:r>
              <a:rPr kumimoji="0"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kumimoji="0"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건물</a:t>
            </a:r>
            <a:r>
              <a:rPr kumimoji="0"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/  </a:t>
            </a:r>
            <a:r>
              <a:rPr kumimoji="0" lang="ko-KR" altLang="en-US" sz="1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건물군</a:t>
            </a:r>
            <a:r>
              <a:rPr kumimoji="0"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/ </a:t>
            </a:r>
            <a:r>
              <a:rPr kumimoji="0"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출입구 </a:t>
            </a:r>
            <a:r>
              <a:rPr kumimoji="0"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kumimoji="0" lang="ko-KR" altLang="en-US" sz="1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실폭도로</a:t>
            </a:r>
            <a:r>
              <a:rPr kumimoji="0"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kumimoji="0"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기초구역</a:t>
            </a:r>
            <a:r>
              <a:rPr kumimoji="0" lang="en-US" altLang="ko-KR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도형 샘플 이미지</a:t>
            </a:r>
            <a:endParaRPr kumimoji="0" lang="en-US" altLang="ko-KR" sz="1200" kern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075" name="그룹 19"/>
          <p:cNvGrpSpPr>
            <a:grpSpLocks/>
          </p:cNvGrpSpPr>
          <p:nvPr/>
        </p:nvGrpSpPr>
        <p:grpSpPr bwMode="auto">
          <a:xfrm>
            <a:off x="533400" y="6743700"/>
            <a:ext cx="4813300" cy="339725"/>
            <a:chOff x="414470" y="1364768"/>
            <a:chExt cx="4812557" cy="338554"/>
          </a:xfrm>
        </p:grpSpPr>
        <p:sp>
          <p:nvSpPr>
            <p:cNvPr id="21" name="Rectangle 76"/>
            <p:cNvSpPr>
              <a:spLocks noChangeArrowheads="1"/>
            </p:cNvSpPr>
            <p:nvPr/>
          </p:nvSpPr>
          <p:spPr bwMode="gray">
            <a:xfrm>
              <a:off x="602832" y="1364768"/>
              <a:ext cx="462419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2200" spc="-1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제공자료 내역</a:t>
              </a:r>
              <a:endParaRPr kumimoji="0" lang="ko-KR" altLang="en-US" sz="2200" spc="-1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414470" y="1401005"/>
              <a:ext cx="61780" cy="266081"/>
            </a:xfrm>
            <a:prstGeom prst="roundRect">
              <a:avLst>
                <a:gd name="adj" fmla="val 48246"/>
              </a:avLst>
            </a:prstGeom>
            <a:solidFill>
              <a:srgbClr val="175DC3"/>
            </a:solidFill>
            <a:ln w="19050" algn="ctr">
              <a:noFill/>
              <a:round/>
              <a:headEnd/>
              <a:tailEnd/>
            </a:ln>
            <a:effectLst>
              <a:innerShdw blurRad="25400" dist="12700" dir="13500000">
                <a:prstClr val="black">
                  <a:alpha val="50000"/>
                </a:prstClr>
              </a:innerShdw>
            </a:effectLst>
          </p:spPr>
          <p:txBody>
            <a:bodyPr rot="10800000" wrap="none" anchor="ctr"/>
            <a:lstStyle/>
            <a:p>
              <a:pPr algn="ctr" defTabSz="909638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400" b="1" spc="-100"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9" name="양쪽 모서리가 둥근 사각형 8"/>
          <p:cNvSpPr/>
          <p:nvPr/>
        </p:nvSpPr>
        <p:spPr>
          <a:xfrm rot="16200000">
            <a:off x="3307556" y="-2774156"/>
            <a:ext cx="576263" cy="6524625"/>
          </a:xfrm>
          <a:prstGeom prst="round2SameRect">
            <a:avLst>
              <a:gd name="adj1" fmla="val 12143"/>
              <a:gd name="adj2" fmla="val 0"/>
            </a:avLst>
          </a:prstGeom>
          <a:solidFill>
            <a:schemeClr val="tx2">
              <a:lumMod val="75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51435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000">
              <a:solidFill>
                <a:prstClr val="white"/>
              </a:solidFill>
            </a:endParaRPr>
          </a:p>
        </p:txBody>
      </p:sp>
      <p:pic>
        <p:nvPicPr>
          <p:cNvPr id="3077" name="그림 14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10"/>
          <a:stretch>
            <a:fillRect/>
          </a:stretch>
        </p:blipFill>
        <p:spPr bwMode="auto">
          <a:xfrm>
            <a:off x="611188" y="222250"/>
            <a:ext cx="6572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TextBox 10"/>
          <p:cNvSpPr txBox="1">
            <a:spLocks noChangeArrowheads="1"/>
          </p:cNvSpPr>
          <p:nvPr/>
        </p:nvSpPr>
        <p:spPr bwMode="auto">
          <a:xfrm>
            <a:off x="1760538" y="249238"/>
            <a:ext cx="4897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5143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defTabSz="5143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defTabSz="5143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defTabSz="5143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defTabSz="5143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defTabSz="514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defTabSz="514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defTabSz="514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defTabSz="514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r"/>
            <a:r>
              <a:rPr kumimoji="0" lang="ko-KR" altLang="en-US" sz="2400">
                <a:solidFill>
                  <a:srgbClr val="FFFF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도로명주소 전자지도 샘플이미지</a:t>
            </a:r>
          </a:p>
        </p:txBody>
      </p:sp>
      <p:pic>
        <p:nvPicPr>
          <p:cNvPr id="307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1423988"/>
            <a:ext cx="630555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403225" y="2073275"/>
          <a:ext cx="6194425" cy="6810375"/>
        </p:xfrm>
        <a:graphic>
          <a:graphicData uri="http://schemas.openxmlformats.org/drawingml/2006/table">
            <a:tbl>
              <a:tblPr/>
              <a:tblGrid>
                <a:gridCol w="34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7464">
                <a:tc>
                  <a:txBody>
                    <a:bodyPr/>
                    <a:lstStyle/>
                    <a:p>
                      <a:pPr marL="0" marR="0" lvl="0" indent="0" algn="ctr" defTabSz="633062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순번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6238" marR="16238" marT="16103" marB="161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33062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유 </a:t>
                      </a:r>
                      <a:r>
                        <a:rPr kumimoji="0" lang="ko-KR" altLang="en-US" sz="10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형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6238" marR="16238" marT="16103" marB="161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33062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레이어</a:t>
                      </a:r>
                      <a:r>
                        <a:rPr kumimoji="0" lang="ko-KR" altLang="en-US" sz="10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설명</a:t>
                      </a:r>
                      <a:endParaRPr kumimoji="0" lang="ko-KR" altLang="en-US" sz="1000" b="1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6238" marR="16238" marT="16103" marB="161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33062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형태</a:t>
                      </a:r>
                      <a:endParaRPr kumimoji="0" lang="ko-KR" altLang="en-US" sz="1000" b="1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6238" marR="16238" marT="16103" marB="161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33062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PK</a:t>
                      </a:r>
                      <a:endParaRPr kumimoji="0" lang="ko-KR" altLang="en-US" sz="1000" b="1" i="0" u="none" strike="noStrike" kern="0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16238" marR="16238" marT="16103" marB="1610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557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법정구역시도</a:t>
                      </a:r>
                      <a:endParaRPr lang="en-US" altLang="ko-KR" sz="1000" b="1" i="0" u="none" strike="noStrik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(TL_SCCO_CTPRVN)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시도분류코드</a:t>
                      </a:r>
                      <a:r>
                        <a:rPr lang="en-US" altLang="ko-KR" sz="1000" b="0" i="0" u="none" strike="noStrike" spc="-1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="0" i="0" u="none" strike="noStrike" spc="-100" baseline="0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시도한글명</a:t>
                      </a:r>
                      <a:r>
                        <a:rPr lang="en-US" altLang="ko-KR" sz="1000" b="0" i="0" u="none" strike="noStrike" spc="-1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="0" i="0" u="none" strike="noStrike" spc="-100" baseline="0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영문명을</a:t>
                      </a:r>
                      <a:endParaRPr lang="en-US" altLang="ko-KR" sz="1000" b="0" i="0" u="none" strike="noStrike" spc="-100" baseline="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관리하는 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공통코드 자료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Polygon</a:t>
                      </a: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CTPRVN_CD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91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법정구역시군구</a:t>
                      </a:r>
                      <a:endParaRPr lang="en-US" altLang="ko-KR" sz="1000" b="1" i="0" u="none" strike="noStrik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(TL_SCCO_SIG)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시군구분류코드</a:t>
                      </a:r>
                      <a:r>
                        <a:rPr lang="en-US" altLang="ko-KR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시군구한글명</a:t>
                      </a:r>
                      <a:r>
                        <a:rPr lang="en-US" altLang="ko-KR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</a:t>
                      </a:r>
                      <a:r>
                        <a:rPr lang="ko-KR" altLang="en-US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영문명을 관리하는 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공통코드 자료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Polygon</a:t>
                      </a: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SIG_CD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91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법정구역읍면동</a:t>
                      </a:r>
                      <a:endParaRPr lang="en-US" altLang="ko-KR" sz="1000" b="1" i="0" u="none" strike="noStrik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(TL_SCCO_EMD)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읍면동코드를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관리하며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i="0" u="none" strike="noStrike" spc="-10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도로명주소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endParaRPr lang="en-US" altLang="ko-KR" sz="1000" b="0" i="0" u="none" strike="noStrike" spc="-100" baseline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건물정보의 </a:t>
                      </a:r>
                      <a:r>
                        <a:rPr lang="ko-KR" altLang="en-US" sz="1000" b="0" i="0" u="none" strike="noStrike" spc="-10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읍면동에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해당하는 자료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Polygon</a:t>
                      </a: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EMD_CD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91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법정구역리</a:t>
                      </a:r>
                      <a:endParaRPr lang="en-US" altLang="ko-KR" sz="1000" b="1" i="0" u="none" strike="noStrik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(TL_SCCO_LI)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리코드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리한글명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영문명을 관리하는 </a:t>
                      </a:r>
                      <a:endParaRPr lang="en-US" altLang="ko-KR" sz="1000" b="0" i="0" u="none" strike="noStrike" spc="-100" baseline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공통코드 자료</a:t>
                      </a:r>
                      <a:endParaRPr lang="ko-KR" altLang="en-US" sz="1000" b="0" i="0" u="none" strike="noStrike" spc="-100" baseline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Polygon</a:t>
                      </a: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LI_CD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3765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건물</a:t>
                      </a:r>
                      <a:endParaRPr lang="en-US" altLang="ko-KR" sz="1000" b="1" i="0" u="none" strike="noStrik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(TL_SPBD_BULD)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건물 형상으로 주소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대표지번 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등의 </a:t>
                      </a:r>
                      <a:endParaRPr lang="en-US" altLang="ko-KR" sz="1000" b="0" i="0" u="none" strike="noStrike" spc="-100" baseline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정보를 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</a:t>
                      </a:r>
                      <a:b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 </a:t>
                      </a:r>
                      <a:r>
                        <a:rPr lang="ko-KR" altLang="en-US" sz="1000" b="0" i="0" u="none" strike="noStrike" spc="-10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도로명주소를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생성하는 </a:t>
                      </a:r>
                      <a:r>
                        <a:rPr lang="ko-KR" altLang="en-US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원천자료</a:t>
                      </a:r>
                      <a:endParaRPr lang="ko-KR" altLang="en-US" sz="1000" b="0" i="0" u="none" strike="noStrike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Polygon</a:t>
                      </a: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BUL_MAN_NO + SIG_CD</a:t>
                      </a:r>
                      <a:b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건물일련번호 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시군구코드</a:t>
                      </a:r>
                      <a:r>
                        <a:rPr lang="en-US" altLang="ko-KR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algn="ctr" fontAlgn="ctr">
                        <a:lnSpc>
                          <a:spcPct val="100000"/>
                        </a:lnSpc>
                      </a:pPr>
                      <a:endParaRPr lang="en-US" altLang="ko-KR" sz="1000" b="0" i="0" u="none" strike="noStrike" spc="-100" baseline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63306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 BD_MGT_SN(</a:t>
                      </a:r>
                      <a:r>
                        <a:rPr lang="ko-KR" altLang="en-US" sz="1000" b="0" i="0" u="none" strike="noStrike" spc="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이전건물관리</a:t>
                      </a:r>
                      <a:endParaRPr lang="en-US" altLang="ko-KR" sz="1000" b="0" i="0" u="none" strike="noStrike" spc="0" baseline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63306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spc="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번호</a:t>
                      </a:r>
                      <a:r>
                        <a:rPr lang="en-US" altLang="ko-KR" sz="1000" b="0" i="0" u="none" strike="noStrike" spc="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1000" b="0" i="0" u="none" strike="noStrike" spc="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를 </a:t>
                      </a:r>
                      <a:r>
                        <a:rPr lang="en-US" altLang="ko-KR" sz="1000" b="0" i="0" u="none" strike="noStrike" spc="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PK</a:t>
                      </a:r>
                      <a:r>
                        <a:rPr lang="ko-KR" altLang="en-US" sz="1000" b="0" i="0" u="none" strike="noStrike" spc="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 사용해도 중복값</a:t>
                      </a:r>
                      <a:endParaRPr lang="en-US" altLang="ko-KR" sz="1000" b="0" i="0" u="none" strike="noStrike" spc="0" baseline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indent="0" algn="l" defTabSz="63306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spc="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발생하지 않음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91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건물군</a:t>
                      </a:r>
                      <a:endParaRPr lang="en-US" altLang="ko-KR" sz="1000" b="1" i="0" u="none" strike="noStrik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(TL_SPBD_EQB)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건물군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형상 및 건물군명 정보 관리</a:t>
                      </a:r>
                      <a:endParaRPr lang="ko-KR" altLang="en-US" sz="1000" b="0" i="0" u="none" strike="noStrike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Polygon</a:t>
                      </a: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SIG_CD + EQB_MAN_SN</a:t>
                      </a:r>
                      <a:b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시군구코드 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건물군일련번호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0263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출입구</a:t>
                      </a:r>
                      <a:endParaRPr lang="en-US" altLang="ko-KR" sz="1000" b="1" i="0" u="none" strike="noStrik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(TL_SPBD_ENTRC)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건물출입구의 위치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일련번호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출입구</a:t>
                      </a:r>
                      <a:endParaRPr lang="en-US" altLang="ko-KR" sz="1000" b="0" i="0" u="none" strike="noStrike" spc="-100" baseline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구분을 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관리하며 건물의 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출입구를 </a:t>
                      </a:r>
                      <a:endParaRPr lang="en-US" altLang="ko-KR" sz="1000" b="0" i="0" u="none" strike="noStrike" spc="-100" baseline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관리하는 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Point</a:t>
                      </a: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SIG_CD + ENT_MAN_NO</a:t>
                      </a:r>
                      <a:b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시군구코드 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출입구일련번호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60254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기초구간</a:t>
                      </a:r>
                      <a:endParaRPr lang="en-US" altLang="ko-KR" sz="1000" b="1" i="0" u="none" strike="noStrik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(TL_SPRD_INTRVL)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기초번호를 부여하기 위하여 도로구간을 </a:t>
                      </a:r>
                      <a:r>
                        <a:rPr lang="ko-KR" altLang="en-US" sz="1000" b="0" i="0" u="none" strike="noStrike" spc="-10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등간격으로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나눈 도형과 기초번호를 관리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Line</a:t>
                      </a: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SIG_CD + RDS_MAN_NO + BSI_INT_SN</a:t>
                      </a:r>
                      <a:b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시군구코드 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도로구간일련번호 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기초구간일련번호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5557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도로구간</a:t>
                      </a:r>
                      <a:endParaRPr lang="en-US" altLang="ko-KR" sz="1000" b="1" i="0" u="none" strike="noStrik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(TL_SPRD_MANAGE)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도로에 대한 중심선 도형으로 </a:t>
                      </a:r>
                      <a:r>
                        <a:rPr lang="ko-KR" altLang="en-US" sz="1000" b="0" i="0" u="none" strike="noStrike" spc="-100" baseline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도로명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</a:t>
                      </a:r>
                      <a:endParaRPr lang="en-US" altLang="ko-KR" sz="1000" b="0" i="0" u="none" strike="noStrike" spc="-100" baseline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도로에 </a:t>
                      </a: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대한 제원 정보 관리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Line</a:t>
                      </a: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SIG_CD + RDS_MAN_NO</a:t>
                      </a:r>
                      <a:b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시군구코드 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도로구간일련번호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91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실폭도로</a:t>
                      </a:r>
                      <a:endParaRPr lang="en-US" altLang="ko-KR" sz="1000" b="1" i="0" u="none" strike="noStrik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(TL_SPRD_RW)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배경자료 </a:t>
                      </a:r>
                      <a:r>
                        <a:rPr lang="en-US" altLang="ko-KR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: </a:t>
                      </a:r>
                      <a:r>
                        <a:rPr lang="ko-KR" altLang="en-US" sz="1000" b="0" i="0" u="none" strike="noStrike" spc="-100" baseline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실폭도로</a:t>
                      </a:r>
                      <a:endParaRPr lang="ko-KR" altLang="en-US" sz="1000" b="0" i="0" u="none" strike="noStrike" spc="-1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Polygon</a:t>
                      </a: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SIG_CD + RW_SN</a:t>
                      </a:r>
                      <a:b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시군구코드 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+ </a:t>
                      </a:r>
                      <a:r>
                        <a:rPr lang="ko-KR" altLang="en-US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실폭도로일련번호</a:t>
                      </a:r>
                      <a:r>
                        <a:rPr lang="en-US" altLang="ko-KR" sz="1000" b="0" i="0" u="none" strike="noStrike" spc="-100" baseline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91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1000" b="0" i="0" u="none" strike="noStrike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기초구역</a:t>
                      </a:r>
                      <a:r>
                        <a:rPr lang="en-US" altLang="ko-KR" sz="1000" b="0" i="0" u="none" strike="noStrik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(TL_KODIS_BAS)</a:t>
                      </a:r>
                      <a:endParaRPr lang="ko-KR" altLang="en-US" sz="10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spc="-10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국가기초구역</a:t>
                      </a: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Polygon</a:t>
                      </a:r>
                    </a:p>
                  </a:txBody>
                  <a:tcPr marL="9525" marR="9525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000" b="0" i="0" u="none" strike="noStrike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BAS_MGT_SN</a:t>
                      </a:r>
                    </a:p>
                    <a:p>
                      <a:pPr marL="0" marR="0" indent="0" algn="ctr" defTabSz="633062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kern="0" spc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기초구역 관리번호</a:t>
                      </a:r>
                      <a:r>
                        <a:rPr lang="en-US" altLang="ko-KR" sz="1000" b="0" i="0" u="none" strike="noStrike" kern="1200" spc="-100" baseline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lang="ko-KR" altLang="en-US" sz="1000" kern="0" spc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1" marR="36001" marT="9447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571500" y="8913813"/>
            <a:ext cx="602615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kumimoji="0" lang="ko-KR" altLang="en-US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도로명주소 </a:t>
            </a:r>
            <a:r>
              <a:rPr kumimoji="0" lang="ko-KR" altLang="en-US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기본도는 자치단체별로 개별 구축된 후 </a:t>
            </a:r>
            <a:r>
              <a:rPr kumimoji="0" lang="ko-KR" altLang="en-US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중앙시스템에 취합되는 구조의 </a:t>
            </a:r>
            <a:endParaRPr kumimoji="0" lang="en-US" altLang="ko-KR" sz="1200" kern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  <a:r>
              <a:rPr kumimoji="0" lang="en-US" altLang="ko-KR" sz="12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PK</a:t>
            </a:r>
            <a:r>
              <a:rPr kumimoji="0" lang="ko-KR" altLang="en-US" sz="12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대부분 </a:t>
            </a:r>
            <a:r>
              <a:rPr kumimoji="0" lang="en-US" altLang="ko-KR" sz="12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'</a:t>
            </a:r>
            <a:r>
              <a:rPr kumimoji="0" lang="ko-KR" altLang="en-US" sz="12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시군구코드 </a:t>
            </a:r>
            <a:r>
              <a:rPr kumimoji="0" lang="en-US" altLang="ko-KR" sz="12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kumimoji="0" lang="ko-KR" altLang="en-US" sz="12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일련번호</a:t>
            </a:r>
            <a:r>
              <a:rPr kumimoji="0" lang="en-US" altLang="ko-KR" sz="1200" b="1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'</a:t>
            </a:r>
            <a:r>
              <a:rPr kumimoji="0" lang="ko-KR" altLang="en-US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의 형태를 </a:t>
            </a:r>
            <a:r>
              <a:rPr kumimoji="0" lang="ko-KR" altLang="en-US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가짐</a:t>
            </a:r>
            <a:r>
              <a:rPr kumimoji="0" lang="en-US" altLang="ko-KR" sz="1200" ker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" y="1050925"/>
            <a:ext cx="5902325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도로명주소</a:t>
            </a:r>
            <a:r>
              <a:rPr kumimoji="0"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kumimoji="0"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전자지도</a:t>
            </a:r>
            <a:r>
              <a:rPr kumimoji="0"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DB</a:t>
            </a:r>
            <a:r>
              <a:rPr kumimoji="0"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를 </a:t>
            </a:r>
            <a:r>
              <a:rPr kumimoji="0"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GRS80 UTM-K</a:t>
            </a:r>
            <a:r>
              <a:rPr kumimoji="0"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기준으로 제공합니다</a:t>
            </a:r>
            <a:r>
              <a:rPr kumimoji="0"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</a:p>
        </p:txBody>
      </p:sp>
      <p:grpSp>
        <p:nvGrpSpPr>
          <p:cNvPr id="4184" name="그룹 19"/>
          <p:cNvGrpSpPr>
            <a:grpSpLocks/>
          </p:cNvGrpSpPr>
          <p:nvPr/>
        </p:nvGrpSpPr>
        <p:grpSpPr bwMode="auto">
          <a:xfrm>
            <a:off x="533400" y="1590675"/>
            <a:ext cx="4813300" cy="338138"/>
            <a:chOff x="414470" y="1364768"/>
            <a:chExt cx="4812557" cy="338554"/>
          </a:xfrm>
        </p:grpSpPr>
        <p:sp>
          <p:nvSpPr>
            <p:cNvPr id="21" name="Rectangle 76"/>
            <p:cNvSpPr>
              <a:spLocks noChangeArrowheads="1"/>
            </p:cNvSpPr>
            <p:nvPr/>
          </p:nvSpPr>
          <p:spPr bwMode="gray">
            <a:xfrm>
              <a:off x="602832" y="1364768"/>
              <a:ext cx="462419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2200" spc="-10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제공자료 내역</a:t>
              </a:r>
              <a:endParaRPr kumimoji="0" lang="ko-KR" altLang="en-US" sz="2200" spc="-10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63500">
                    <a:schemeClr val="bg1">
                      <a:alpha val="40000"/>
                    </a:schemeClr>
                  </a:glo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414470" y="1401005"/>
              <a:ext cx="61780" cy="266081"/>
            </a:xfrm>
            <a:prstGeom prst="roundRect">
              <a:avLst>
                <a:gd name="adj" fmla="val 48246"/>
              </a:avLst>
            </a:prstGeom>
            <a:solidFill>
              <a:srgbClr val="175DC3"/>
            </a:solidFill>
            <a:ln w="19050" algn="ctr">
              <a:noFill/>
              <a:round/>
              <a:headEnd/>
              <a:tailEnd/>
            </a:ln>
            <a:effectLst>
              <a:innerShdw blurRad="25400" dist="12700" dir="13500000">
                <a:prstClr val="black">
                  <a:alpha val="50000"/>
                </a:prstClr>
              </a:innerShdw>
            </a:effectLst>
          </p:spPr>
          <p:txBody>
            <a:bodyPr rot="10800000" wrap="none" anchor="ctr"/>
            <a:lstStyle/>
            <a:p>
              <a:pPr algn="ctr" defTabSz="909638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400" b="1" spc="-100"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sp>
        <p:nvSpPr>
          <p:cNvPr id="26" name="Freeform 7"/>
          <p:cNvSpPr>
            <a:spLocks noEditPoints="1"/>
          </p:cNvSpPr>
          <p:nvPr/>
        </p:nvSpPr>
        <p:spPr bwMode="auto">
          <a:xfrm>
            <a:off x="404813" y="1093788"/>
            <a:ext cx="276225" cy="258762"/>
          </a:xfrm>
          <a:custGeom>
            <a:avLst/>
            <a:gdLst>
              <a:gd name="T0" fmla="*/ 203 w 203"/>
              <a:gd name="T1" fmla="*/ 24 h 198"/>
              <a:gd name="T2" fmla="*/ 129 w 203"/>
              <a:gd name="T3" fmla="*/ 24 h 198"/>
              <a:gd name="T4" fmla="*/ 129 w 203"/>
              <a:gd name="T5" fmla="*/ 37 h 198"/>
              <a:gd name="T6" fmla="*/ 189 w 203"/>
              <a:gd name="T7" fmla="*/ 37 h 198"/>
              <a:gd name="T8" fmla="*/ 189 w 203"/>
              <a:gd name="T9" fmla="*/ 135 h 198"/>
              <a:gd name="T10" fmla="*/ 15 w 203"/>
              <a:gd name="T11" fmla="*/ 135 h 198"/>
              <a:gd name="T12" fmla="*/ 15 w 203"/>
              <a:gd name="T13" fmla="*/ 37 h 198"/>
              <a:gd name="T14" fmla="*/ 75 w 203"/>
              <a:gd name="T15" fmla="*/ 37 h 198"/>
              <a:gd name="T16" fmla="*/ 75 w 203"/>
              <a:gd name="T17" fmla="*/ 24 h 198"/>
              <a:gd name="T18" fmla="*/ 0 w 203"/>
              <a:gd name="T19" fmla="*/ 24 h 198"/>
              <a:gd name="T20" fmla="*/ 0 w 203"/>
              <a:gd name="T21" fmla="*/ 160 h 198"/>
              <a:gd name="T22" fmla="*/ 76 w 203"/>
              <a:gd name="T23" fmla="*/ 160 h 198"/>
              <a:gd name="T24" fmla="*/ 68 w 203"/>
              <a:gd name="T25" fmla="*/ 191 h 198"/>
              <a:gd name="T26" fmla="*/ 60 w 203"/>
              <a:gd name="T27" fmla="*/ 191 h 198"/>
              <a:gd name="T28" fmla="*/ 60 w 203"/>
              <a:gd name="T29" fmla="*/ 198 h 198"/>
              <a:gd name="T30" fmla="*/ 143 w 203"/>
              <a:gd name="T31" fmla="*/ 198 h 198"/>
              <a:gd name="T32" fmla="*/ 143 w 203"/>
              <a:gd name="T33" fmla="*/ 191 h 198"/>
              <a:gd name="T34" fmla="*/ 135 w 203"/>
              <a:gd name="T35" fmla="*/ 191 h 198"/>
              <a:gd name="T36" fmla="*/ 128 w 203"/>
              <a:gd name="T37" fmla="*/ 160 h 198"/>
              <a:gd name="T38" fmla="*/ 203 w 203"/>
              <a:gd name="T39" fmla="*/ 160 h 198"/>
              <a:gd name="T40" fmla="*/ 203 w 203"/>
              <a:gd name="T41" fmla="*/ 24 h 198"/>
              <a:gd name="T42" fmla="*/ 67 w 203"/>
              <a:gd name="T43" fmla="*/ 62 h 198"/>
              <a:gd name="T44" fmla="*/ 69 w 203"/>
              <a:gd name="T45" fmla="*/ 67 h 198"/>
              <a:gd name="T46" fmla="*/ 97 w 203"/>
              <a:gd name="T47" fmla="*/ 94 h 198"/>
              <a:gd name="T48" fmla="*/ 102 w 203"/>
              <a:gd name="T49" fmla="*/ 97 h 198"/>
              <a:gd name="T50" fmla="*/ 107 w 203"/>
              <a:gd name="T51" fmla="*/ 94 h 198"/>
              <a:gd name="T52" fmla="*/ 134 w 203"/>
              <a:gd name="T53" fmla="*/ 67 h 198"/>
              <a:gd name="T54" fmla="*/ 136 w 203"/>
              <a:gd name="T55" fmla="*/ 62 h 198"/>
              <a:gd name="T56" fmla="*/ 129 w 203"/>
              <a:gd name="T57" fmla="*/ 55 h 198"/>
              <a:gd name="T58" fmla="*/ 125 w 203"/>
              <a:gd name="T59" fmla="*/ 57 h 198"/>
              <a:gd name="T60" fmla="*/ 109 w 203"/>
              <a:gd name="T61" fmla="*/ 73 h 198"/>
              <a:gd name="T62" fmla="*/ 109 w 203"/>
              <a:gd name="T63" fmla="*/ 7 h 198"/>
              <a:gd name="T64" fmla="*/ 102 w 203"/>
              <a:gd name="T65" fmla="*/ 0 h 198"/>
              <a:gd name="T66" fmla="*/ 95 w 203"/>
              <a:gd name="T67" fmla="*/ 7 h 198"/>
              <a:gd name="T68" fmla="*/ 95 w 203"/>
              <a:gd name="T69" fmla="*/ 73 h 198"/>
              <a:gd name="T70" fmla="*/ 79 w 203"/>
              <a:gd name="T71" fmla="*/ 57 h 198"/>
              <a:gd name="T72" fmla="*/ 74 w 203"/>
              <a:gd name="T73" fmla="*/ 55 h 198"/>
              <a:gd name="T74" fmla="*/ 67 w 203"/>
              <a:gd name="T75" fmla="*/ 62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3" h="198">
                <a:moveTo>
                  <a:pt x="203" y="24"/>
                </a:moveTo>
                <a:cubicBezTo>
                  <a:pt x="129" y="24"/>
                  <a:pt x="129" y="24"/>
                  <a:pt x="129" y="24"/>
                </a:cubicBezTo>
                <a:cubicBezTo>
                  <a:pt x="129" y="37"/>
                  <a:pt x="129" y="37"/>
                  <a:pt x="129" y="37"/>
                </a:cubicBezTo>
                <a:cubicBezTo>
                  <a:pt x="189" y="37"/>
                  <a:pt x="189" y="37"/>
                  <a:pt x="189" y="37"/>
                </a:cubicBezTo>
                <a:cubicBezTo>
                  <a:pt x="189" y="135"/>
                  <a:pt x="189" y="135"/>
                  <a:pt x="189" y="135"/>
                </a:cubicBezTo>
                <a:cubicBezTo>
                  <a:pt x="15" y="135"/>
                  <a:pt x="15" y="135"/>
                  <a:pt x="15" y="135"/>
                </a:cubicBezTo>
                <a:cubicBezTo>
                  <a:pt x="15" y="37"/>
                  <a:pt x="15" y="37"/>
                  <a:pt x="15" y="37"/>
                </a:cubicBezTo>
                <a:cubicBezTo>
                  <a:pt x="75" y="37"/>
                  <a:pt x="75" y="37"/>
                  <a:pt x="75" y="37"/>
                </a:cubicBezTo>
                <a:cubicBezTo>
                  <a:pt x="75" y="24"/>
                  <a:pt x="75" y="24"/>
                  <a:pt x="75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160"/>
                  <a:pt x="0" y="160"/>
                  <a:pt x="0" y="160"/>
                </a:cubicBezTo>
                <a:cubicBezTo>
                  <a:pt x="76" y="160"/>
                  <a:pt x="76" y="160"/>
                  <a:pt x="76" y="160"/>
                </a:cubicBezTo>
                <a:cubicBezTo>
                  <a:pt x="68" y="191"/>
                  <a:pt x="68" y="191"/>
                  <a:pt x="68" y="191"/>
                </a:cubicBezTo>
                <a:cubicBezTo>
                  <a:pt x="60" y="191"/>
                  <a:pt x="60" y="191"/>
                  <a:pt x="60" y="191"/>
                </a:cubicBezTo>
                <a:cubicBezTo>
                  <a:pt x="60" y="198"/>
                  <a:pt x="60" y="198"/>
                  <a:pt x="60" y="198"/>
                </a:cubicBezTo>
                <a:cubicBezTo>
                  <a:pt x="143" y="198"/>
                  <a:pt x="143" y="198"/>
                  <a:pt x="143" y="198"/>
                </a:cubicBezTo>
                <a:cubicBezTo>
                  <a:pt x="143" y="191"/>
                  <a:pt x="143" y="191"/>
                  <a:pt x="143" y="191"/>
                </a:cubicBezTo>
                <a:cubicBezTo>
                  <a:pt x="135" y="191"/>
                  <a:pt x="135" y="191"/>
                  <a:pt x="135" y="191"/>
                </a:cubicBezTo>
                <a:cubicBezTo>
                  <a:pt x="128" y="160"/>
                  <a:pt x="128" y="160"/>
                  <a:pt x="128" y="160"/>
                </a:cubicBezTo>
                <a:cubicBezTo>
                  <a:pt x="203" y="160"/>
                  <a:pt x="203" y="160"/>
                  <a:pt x="203" y="160"/>
                </a:cubicBezTo>
                <a:lnTo>
                  <a:pt x="203" y="24"/>
                </a:lnTo>
                <a:close/>
                <a:moveTo>
                  <a:pt x="67" y="62"/>
                </a:moveTo>
                <a:cubicBezTo>
                  <a:pt x="67" y="64"/>
                  <a:pt x="68" y="65"/>
                  <a:pt x="69" y="67"/>
                </a:cubicBezTo>
                <a:cubicBezTo>
                  <a:pt x="97" y="94"/>
                  <a:pt x="97" y="94"/>
                  <a:pt x="97" y="94"/>
                </a:cubicBezTo>
                <a:cubicBezTo>
                  <a:pt x="98" y="95"/>
                  <a:pt x="99" y="97"/>
                  <a:pt x="102" y="97"/>
                </a:cubicBezTo>
                <a:cubicBezTo>
                  <a:pt x="104" y="97"/>
                  <a:pt x="105" y="96"/>
                  <a:pt x="107" y="94"/>
                </a:cubicBezTo>
                <a:cubicBezTo>
                  <a:pt x="134" y="67"/>
                  <a:pt x="134" y="67"/>
                  <a:pt x="134" y="67"/>
                </a:cubicBezTo>
                <a:cubicBezTo>
                  <a:pt x="136" y="65"/>
                  <a:pt x="136" y="64"/>
                  <a:pt x="136" y="62"/>
                </a:cubicBezTo>
                <a:cubicBezTo>
                  <a:pt x="136" y="58"/>
                  <a:pt x="133" y="55"/>
                  <a:pt x="129" y="55"/>
                </a:cubicBezTo>
                <a:cubicBezTo>
                  <a:pt x="128" y="55"/>
                  <a:pt x="126" y="56"/>
                  <a:pt x="125" y="57"/>
                </a:cubicBezTo>
                <a:cubicBezTo>
                  <a:pt x="109" y="73"/>
                  <a:pt x="109" y="73"/>
                  <a:pt x="109" y="73"/>
                </a:cubicBezTo>
                <a:cubicBezTo>
                  <a:pt x="109" y="7"/>
                  <a:pt x="109" y="7"/>
                  <a:pt x="109" y="7"/>
                </a:cubicBezTo>
                <a:cubicBezTo>
                  <a:pt x="109" y="3"/>
                  <a:pt x="106" y="0"/>
                  <a:pt x="102" y="0"/>
                </a:cubicBezTo>
                <a:cubicBezTo>
                  <a:pt x="98" y="0"/>
                  <a:pt x="95" y="3"/>
                  <a:pt x="95" y="7"/>
                </a:cubicBezTo>
                <a:cubicBezTo>
                  <a:pt x="95" y="73"/>
                  <a:pt x="95" y="73"/>
                  <a:pt x="95" y="73"/>
                </a:cubicBezTo>
                <a:cubicBezTo>
                  <a:pt x="79" y="57"/>
                  <a:pt x="79" y="57"/>
                  <a:pt x="79" y="57"/>
                </a:cubicBezTo>
                <a:cubicBezTo>
                  <a:pt x="78" y="56"/>
                  <a:pt x="76" y="55"/>
                  <a:pt x="74" y="55"/>
                </a:cubicBezTo>
                <a:cubicBezTo>
                  <a:pt x="71" y="55"/>
                  <a:pt x="67" y="58"/>
                  <a:pt x="67" y="62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x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양쪽 모서리가 둥근 사각형 8"/>
          <p:cNvSpPr/>
          <p:nvPr/>
        </p:nvSpPr>
        <p:spPr>
          <a:xfrm rot="16200000">
            <a:off x="3307556" y="-2774156"/>
            <a:ext cx="576263" cy="6524625"/>
          </a:xfrm>
          <a:prstGeom prst="round2SameRect">
            <a:avLst>
              <a:gd name="adj1" fmla="val 12143"/>
              <a:gd name="adj2" fmla="val 0"/>
            </a:avLst>
          </a:prstGeom>
          <a:solidFill>
            <a:schemeClr val="tx2">
              <a:lumMod val="75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514350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000">
              <a:solidFill>
                <a:prstClr val="white"/>
              </a:solidFill>
            </a:endParaRPr>
          </a:p>
        </p:txBody>
      </p:sp>
      <p:pic>
        <p:nvPicPr>
          <p:cNvPr id="4187" name="그림 14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10"/>
          <a:stretch>
            <a:fillRect/>
          </a:stretch>
        </p:blipFill>
        <p:spPr bwMode="auto">
          <a:xfrm>
            <a:off x="611188" y="222250"/>
            <a:ext cx="6572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88" name="TextBox 10"/>
          <p:cNvSpPr txBox="1">
            <a:spLocks noChangeArrowheads="1"/>
          </p:cNvSpPr>
          <p:nvPr/>
        </p:nvSpPr>
        <p:spPr bwMode="auto">
          <a:xfrm>
            <a:off x="1760538" y="249238"/>
            <a:ext cx="4897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5143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defTabSz="5143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defTabSz="5143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defTabSz="5143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defTabSz="5143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defTabSz="514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defTabSz="514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defTabSz="514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defTabSz="5143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r"/>
            <a:r>
              <a:rPr kumimoji="0" lang="ko-KR" altLang="en-US" sz="2400">
                <a:solidFill>
                  <a:srgbClr val="FFFFFF"/>
                </a:solidFill>
                <a:latin typeface="나눔고딕 ExtraBold" pitchFamily="50" charset="-127"/>
                <a:ea typeface="나눔고딕 ExtraBold" pitchFamily="50" charset="-127"/>
              </a:rPr>
              <a:t>도로명주소</a:t>
            </a:r>
            <a:r>
              <a:rPr kumimoji="0" lang="en-US" altLang="ko-KR" sz="2400">
                <a:solidFill>
                  <a:srgbClr val="FFFFFF"/>
                </a:solidFill>
                <a:latin typeface="나눔고딕 ExtraBold" pitchFamily="50" charset="-127"/>
                <a:ea typeface="나눔고딕 ExtraBold" pitchFamily="50" charset="-127"/>
              </a:rPr>
              <a:t>DB</a:t>
            </a:r>
            <a:r>
              <a:rPr kumimoji="0" lang="ko-KR" altLang="en-US" sz="2400">
                <a:solidFill>
                  <a:srgbClr val="FFFFFF"/>
                </a:solidFill>
                <a:latin typeface="나눔고딕 ExtraBold" pitchFamily="50" charset="-127"/>
                <a:ea typeface="나눔고딕 ExtraBold" pitchFamily="50" charset="-127"/>
              </a:rPr>
              <a:t> 레이아웃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책자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책자" id="{5CC0B278-1E3C-4AF6-BCBC-407BA76C3956}" vid="{ACD9034E-B9F2-4FA1-876E-4ACFC5335E67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1105</TotalTime>
  <Words>311</Words>
  <Application>Microsoft Office PowerPoint</Application>
  <PresentationFormat>A4 용지(210x297mm)</PresentationFormat>
  <Paragraphs>96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2" baseType="lpstr">
      <vt:lpstr>Calibri</vt:lpstr>
      <vt:lpstr>맑은 고딕</vt:lpstr>
      <vt:lpstr>Arial</vt:lpstr>
      <vt:lpstr>Calibri Light</vt:lpstr>
      <vt:lpstr>HY헤드라인M</vt:lpstr>
      <vt:lpstr>나눔고딕</vt:lpstr>
      <vt:lpstr>나눔고딕 ExtraBold</vt:lpstr>
      <vt:lpstr>굴림</vt:lpstr>
      <vt:lpstr>1_책자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KLID_PC1</cp:lastModifiedBy>
  <cp:revision>140</cp:revision>
  <cp:lastPrinted>2016-05-19T06:58:41Z</cp:lastPrinted>
  <dcterms:created xsi:type="dcterms:W3CDTF">2016-05-19T06:07:50Z</dcterms:created>
  <dcterms:modified xsi:type="dcterms:W3CDTF">2025-10-27T06:04:53Z</dcterms:modified>
</cp:coreProperties>
</file>